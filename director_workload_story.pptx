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</a:ln>
        </p:spPr>
      </p:sp>
      <p:sp>
        <p:nvSpPr>
          <p:cNvPr id="11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685800" y="594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500" b="1">
                <a:solidFill>
                  <a:srgbClr val="3A7CA5"/>
                </a:solidFill>
              </a:rPr>
              <a:t>Director Workload Story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85800" y="1417320"/>
            <a:ext cx="104241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4200" b="1">
                <a:solidFill>
                  <a:srgbClr val="1D2433"/>
                </a:solidFill>
              </a:rPr>
              <a:t>Director Workload: The Bench Is Smaller, More Critical, and Highly Trusted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31520" y="3246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100">
                <a:solidFill>
                  <a:srgbClr val="4E5A6A"/>
                </a:solidFill>
              </a:rPr>
              <a:t>A management-ready view of capacity, continuity, and workload concentration across Bob's Burgers episode direction.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31520" y="61722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00">
                <a:solidFill>
                  <a:srgbClr val="6B7280"/>
                </a:solidFill>
              </a:rPr>
              <a:t>Source: local bobs_burgers.db | 322 episodes, 327 director credits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17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502920" y="41148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000" b="1">
                <a:solidFill>
                  <a:srgbClr val="1D2433"/>
                </a:solidFill>
              </a:rPr>
              <a:t>What Management Should Take Away</a:t>
            </a:r>
          </a:p>
        </p:txBody>
      </p:sp>
      <p:sp>
        <p:nvSpPr>
          <p:cNvPr id="19" name="Shape"/>
          <p:cNvSpPr/>
          <p:nvPr/>
        </p:nvSpPr>
        <p:spPr>
          <a:xfrm>
            <a:off x="685800" y="139903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960120" y="132588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Director credits: 327 across 23 directors</a:t>
            </a:r>
          </a:p>
        </p:txBody>
      </p:sp>
      <p:sp>
        <p:nvSpPr>
          <p:cNvPr id="21" name="Shape"/>
          <p:cNvSpPr/>
          <p:nvPr/>
        </p:nvSpPr>
        <p:spPr>
          <a:xfrm>
            <a:off x="685800" y="203911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960120" y="196596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Top 4 directors carry 49% of all director credits</a:t>
            </a:r>
          </a:p>
        </p:txBody>
      </p:sp>
      <p:sp>
        <p:nvSpPr>
          <p:cNvPr id="23" name="Shape"/>
          <p:cNvSpPr/>
          <p:nvPr/>
        </p:nvSpPr>
        <p:spPr>
          <a:xfrm>
            <a:off x="685800" y="267919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24" name="Text"/>
          <p:cNvSpPr txBox="1"/>
          <p:nvPr/>
        </p:nvSpPr>
        <p:spPr>
          <a:xfrm>
            <a:off x="960120" y="260604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Recent era uses fewer unique directors than earlier eras</a:t>
            </a:r>
          </a:p>
        </p:txBody>
      </p:sp>
      <p:sp>
        <p:nvSpPr>
          <p:cNvPr id="25" name="Shape"/>
          <p:cNvSpPr/>
          <p:nvPr/>
        </p:nvSpPr>
        <p:spPr>
          <a:xfrm>
            <a:off x="685800" y="331927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960120" y="324612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Season 16 work is concentrated across 3 directors in the database</a:t>
            </a:r>
          </a:p>
        </p:txBody>
      </p:sp>
      <p:sp>
        <p:nvSpPr>
          <p:cNvPr id="27" name="Shape"/>
          <p:cNvSpPr/>
          <p:nvPr/>
        </p:nvSpPr>
        <p:spPr>
          <a:xfrm>
            <a:off x="685800" y="5596128"/>
            <a:ext cx="1083564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9DEE8"/>
            </a:solidFill>
          </a:ln>
        </p:spPr>
      </p:sp>
      <p:sp>
        <p:nvSpPr>
          <p:cNvPr id="28" name="Text"/>
          <p:cNvSpPr txBox="1"/>
          <p:nvPr/>
        </p:nvSpPr>
        <p:spPr>
          <a:xfrm>
            <a:off x="914400" y="5742432"/>
            <a:ext cx="10287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400" b="1">
                <a:solidFill>
                  <a:srgbClr val="3A4A5E"/>
                </a:solidFill>
              </a:rPr>
              <a:t>The question is less “who has the most credits?” and more “where is continuity becoming dependency?”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54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</a:ln>
        </p:spPr>
      </p:sp>
      <p:sp>
        <p:nvSpPr>
          <p:cNvPr id="55" name="Text"/>
          <p:cNvSpPr txBox="1"/>
          <p:nvPr/>
        </p:nvSpPr>
        <p:spPr>
          <a:xfrm>
            <a:off x="502920" y="41148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000" b="1">
                <a:solidFill>
                  <a:srgbClr val="1D2433"/>
                </a:solidFill>
              </a:rPr>
              <a:t>Workload Concentration</a:t>
            </a:r>
          </a:p>
        </p:txBody>
      </p:sp>
      <p:sp>
        <p:nvSpPr>
          <p:cNvPr id="56" name="Shape"/>
          <p:cNvSpPr/>
          <p:nvPr/>
        </p:nvSpPr>
        <p:spPr>
          <a:xfrm>
            <a:off x="685800" y="1234440"/>
            <a:ext cx="5166360" cy="498348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EE8"/>
            </a:solidFill>
          </a:ln>
        </p:spPr>
      </p:sp>
      <p:sp>
        <p:nvSpPr>
          <p:cNvPr id="57" name="Text"/>
          <p:cNvSpPr txBox="1"/>
          <p:nvPr/>
        </p:nvSpPr>
        <p:spPr>
          <a:xfrm>
            <a:off x="96012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D1495B"/>
                </a:solidFill>
              </a:rPr>
              <a:t>Signal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960120" y="20116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A small director bench carries a large share of output.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960120" y="254203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Chris Song alone has 59 director credits.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960120" y="3072384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Four people account for about half of the dataset.</a:t>
            </a:r>
          </a:p>
        </p:txBody>
      </p:sp>
      <p:sp>
        <p:nvSpPr>
          <p:cNvPr id="61" name="Shape"/>
          <p:cNvSpPr/>
          <p:nvPr/>
        </p:nvSpPr>
        <p:spPr>
          <a:xfrm>
            <a:off x="6309360" y="1234440"/>
            <a:ext cx="516636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62" name="Text"/>
          <p:cNvSpPr txBox="1"/>
          <p:nvPr/>
        </p:nvSpPr>
        <p:spPr>
          <a:xfrm>
            <a:off x="658368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3A7CA5"/>
                </a:solidFill>
              </a:rPr>
              <a:t>Top Director Credits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583680" y="1965960"/>
            <a:ext cx="205740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>
                <a:solidFill>
                  <a:srgbClr val="1D2433"/>
                </a:solidFill>
              </a:rPr>
              <a:t>Chris Song</a:t>
            </a:r>
          </a:p>
        </p:txBody>
      </p:sp>
      <p:sp>
        <p:nvSpPr>
          <p:cNvPr id="30" name="Shape"/>
          <p:cNvSpPr/>
          <p:nvPr/>
        </p:nvSpPr>
        <p:spPr>
          <a:xfrm>
            <a:off x="8823960" y="2020824"/>
            <a:ext cx="3840480" cy="234315"/>
          </a:xfrm>
          <a:prstGeom prst="rect">
            <a:avLst/>
          </a:prstGeom>
          <a:solidFill>
            <a:srgbClr val="D1495B"/>
          </a:solidFill>
          <a:ln w="12700">
            <a:solidFill>
              <a:srgbClr val="FFFFFF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12755880" y="1984248"/>
            <a:ext cx="64008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1D2433"/>
                </a:solidFill>
              </a:rPr>
              <a:t>59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583680" y="2419731"/>
            <a:ext cx="205740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>
                <a:solidFill>
                  <a:srgbClr val="1D2433"/>
                </a:solidFill>
              </a:rPr>
              <a:t>Ryan Mattos</a:t>
            </a:r>
          </a:p>
        </p:txBody>
      </p:sp>
      <p:sp>
        <p:nvSpPr>
          <p:cNvPr id="33" name="Shape"/>
          <p:cNvSpPr/>
          <p:nvPr/>
        </p:nvSpPr>
        <p:spPr>
          <a:xfrm>
            <a:off x="8823960" y="2474595"/>
            <a:ext cx="2408437" cy="234315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/>
            </a:solidFill>
          </a:ln>
        </p:spPr>
      </p:sp>
      <p:sp>
        <p:nvSpPr>
          <p:cNvPr id="34" name="Text"/>
          <p:cNvSpPr txBox="1"/>
          <p:nvPr/>
        </p:nvSpPr>
        <p:spPr>
          <a:xfrm>
            <a:off x="11323837" y="2438019"/>
            <a:ext cx="64008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1D2433"/>
                </a:solidFill>
              </a:rPr>
              <a:t>37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583680" y="2873502"/>
            <a:ext cx="205740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>
                <a:solidFill>
                  <a:srgbClr val="1D2433"/>
                </a:solidFill>
              </a:rPr>
              <a:t>Brian LoSchiavo</a:t>
            </a:r>
          </a:p>
        </p:txBody>
      </p:sp>
      <p:sp>
        <p:nvSpPr>
          <p:cNvPr id="36" name="Shape"/>
          <p:cNvSpPr/>
          <p:nvPr/>
        </p:nvSpPr>
        <p:spPr>
          <a:xfrm>
            <a:off x="8823960" y="2928366"/>
            <a:ext cx="2148065" cy="234315"/>
          </a:xfrm>
          <a:prstGeom prst="rect">
            <a:avLst/>
          </a:prstGeom>
          <a:solidFill>
            <a:srgbClr val="D1495B"/>
          </a:solidFill>
          <a:ln w="12700">
            <a:solidFill>
              <a:srgbClr val="FFFFFF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11063465" y="2891790"/>
            <a:ext cx="64008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1D2433"/>
                </a:solidFill>
              </a:rPr>
              <a:t>33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6583680" y="3327273"/>
            <a:ext cx="205740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>
                <a:solidFill>
                  <a:srgbClr val="1D2433"/>
                </a:solidFill>
              </a:rPr>
              <a:t>Tyree Dillihay</a:t>
            </a:r>
          </a:p>
        </p:txBody>
      </p:sp>
      <p:sp>
        <p:nvSpPr>
          <p:cNvPr id="39" name="Shape"/>
          <p:cNvSpPr/>
          <p:nvPr/>
        </p:nvSpPr>
        <p:spPr>
          <a:xfrm>
            <a:off x="8823960" y="3382137"/>
            <a:ext cx="2082972" cy="234315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/>
            </a:solidFill>
          </a:ln>
        </p:spPr>
      </p:sp>
      <p:sp>
        <p:nvSpPr>
          <p:cNvPr id="40" name="Text"/>
          <p:cNvSpPr txBox="1"/>
          <p:nvPr/>
        </p:nvSpPr>
        <p:spPr>
          <a:xfrm>
            <a:off x="10998372" y="3345561"/>
            <a:ext cx="64008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1D2433"/>
                </a:solidFill>
              </a:rPr>
              <a:t>32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6583680" y="3781044"/>
            <a:ext cx="205740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>
                <a:solidFill>
                  <a:srgbClr val="1D2433"/>
                </a:solidFill>
              </a:rPr>
              <a:t>Matthew Long</a:t>
            </a:r>
          </a:p>
        </p:txBody>
      </p:sp>
      <p:sp>
        <p:nvSpPr>
          <p:cNvPr id="42" name="Shape"/>
          <p:cNvSpPr/>
          <p:nvPr/>
        </p:nvSpPr>
        <p:spPr>
          <a:xfrm>
            <a:off x="8823960" y="3835908"/>
            <a:ext cx="1236765" cy="234315"/>
          </a:xfrm>
          <a:prstGeom prst="rect">
            <a:avLst/>
          </a:prstGeom>
          <a:solidFill>
            <a:srgbClr val="D1495B"/>
          </a:solidFill>
          <a:ln w="12700">
            <a:solidFill>
              <a:srgbClr val="FFFFFF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10152165" y="3799332"/>
            <a:ext cx="64008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1D2433"/>
                </a:solidFill>
              </a:rPr>
              <a:t>19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6583680" y="4234815"/>
            <a:ext cx="205740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>
                <a:solidFill>
                  <a:srgbClr val="1D2433"/>
                </a:solidFill>
              </a:rPr>
              <a:t>Jennifer Coyle</a:t>
            </a:r>
          </a:p>
        </p:txBody>
      </p:sp>
      <p:sp>
        <p:nvSpPr>
          <p:cNvPr id="45" name="Shape"/>
          <p:cNvSpPr/>
          <p:nvPr/>
        </p:nvSpPr>
        <p:spPr>
          <a:xfrm>
            <a:off x="8823960" y="4289679"/>
            <a:ext cx="1236765" cy="234315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/>
            </a:solidFill>
          </a:ln>
        </p:spPr>
      </p:sp>
      <p:sp>
        <p:nvSpPr>
          <p:cNvPr id="46" name="Text"/>
          <p:cNvSpPr txBox="1"/>
          <p:nvPr/>
        </p:nvSpPr>
        <p:spPr>
          <a:xfrm>
            <a:off x="10152165" y="4253103"/>
            <a:ext cx="64008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1D2433"/>
                </a:solidFill>
              </a:rPr>
              <a:t>19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6583680" y="4688586"/>
            <a:ext cx="205740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>
                <a:solidFill>
                  <a:srgbClr val="1D2433"/>
                </a:solidFill>
              </a:rPr>
              <a:t>Tom Riggin</a:t>
            </a:r>
          </a:p>
        </p:txBody>
      </p:sp>
      <p:sp>
        <p:nvSpPr>
          <p:cNvPr id="48" name="Shape"/>
          <p:cNvSpPr/>
          <p:nvPr/>
        </p:nvSpPr>
        <p:spPr>
          <a:xfrm>
            <a:off x="8823960" y="4743450"/>
            <a:ext cx="1171672" cy="234315"/>
          </a:xfrm>
          <a:prstGeom prst="rect">
            <a:avLst/>
          </a:prstGeom>
          <a:solidFill>
            <a:srgbClr val="D1495B"/>
          </a:solidFill>
          <a:ln w="12700">
            <a:solidFill>
              <a:srgbClr val="FFFFFF"/>
            </a:solidFill>
          </a:ln>
        </p:spPr>
      </p:sp>
      <p:sp>
        <p:nvSpPr>
          <p:cNvPr id="49" name="Text"/>
          <p:cNvSpPr txBox="1"/>
          <p:nvPr/>
        </p:nvSpPr>
        <p:spPr>
          <a:xfrm>
            <a:off x="10087072" y="4706874"/>
            <a:ext cx="64008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1D2433"/>
                </a:solidFill>
              </a:rPr>
              <a:t>18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6583680" y="5142357"/>
            <a:ext cx="205740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>
                <a:solidFill>
                  <a:srgbClr val="1D2433"/>
                </a:solidFill>
              </a:rPr>
              <a:t>Kyounghee Lim</a:t>
            </a:r>
          </a:p>
        </p:txBody>
      </p:sp>
      <p:sp>
        <p:nvSpPr>
          <p:cNvPr id="51" name="Shape"/>
          <p:cNvSpPr/>
          <p:nvPr/>
        </p:nvSpPr>
        <p:spPr>
          <a:xfrm>
            <a:off x="8823960" y="5197221"/>
            <a:ext cx="976393" cy="234315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/>
            </a:solidFill>
          </a:ln>
        </p:spPr>
      </p:sp>
      <p:sp>
        <p:nvSpPr>
          <p:cNvPr id="52" name="Text"/>
          <p:cNvSpPr txBox="1"/>
          <p:nvPr/>
        </p:nvSpPr>
        <p:spPr>
          <a:xfrm>
            <a:off x="9891793" y="5160645"/>
            <a:ext cx="640080" cy="344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 b="1">
                <a:solidFill>
                  <a:srgbClr val="1D2433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66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</a:ln>
        </p:spPr>
      </p:sp>
      <p:sp>
        <p:nvSpPr>
          <p:cNvPr id="67" name="Text"/>
          <p:cNvSpPr txBox="1"/>
          <p:nvPr/>
        </p:nvSpPr>
        <p:spPr>
          <a:xfrm>
            <a:off x="502920" y="41148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000" b="1">
                <a:solidFill>
                  <a:srgbClr val="1D2433"/>
                </a:solidFill>
              </a:rPr>
              <a:t>The Bench Narrows Over Time</a:t>
            </a:r>
          </a:p>
        </p:txBody>
      </p:sp>
      <p:sp>
        <p:nvSpPr>
          <p:cNvPr id="68" name="Shape"/>
          <p:cNvSpPr/>
          <p:nvPr/>
        </p:nvSpPr>
        <p:spPr>
          <a:xfrm>
            <a:off x="685800" y="1234440"/>
            <a:ext cx="5166360" cy="498348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EE8"/>
            </a:solidFill>
          </a:ln>
        </p:spPr>
      </p:sp>
      <p:sp>
        <p:nvSpPr>
          <p:cNvPr id="69" name="Text"/>
          <p:cNvSpPr txBox="1"/>
          <p:nvPr/>
        </p:nvSpPr>
        <p:spPr>
          <a:xfrm>
            <a:off x="96012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D1495B"/>
                </a:solidFill>
              </a:rPr>
              <a:t>Era Comparison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960120" y="20116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Early S1-S5: 14 directors, 88 episodes</a:t>
            </a:r>
          </a:p>
        </p:txBody>
      </p:sp>
      <p:sp>
        <p:nvSpPr>
          <p:cNvPr id="71" name="Text"/>
          <p:cNvSpPr txBox="1"/>
          <p:nvPr/>
        </p:nvSpPr>
        <p:spPr>
          <a:xfrm>
            <a:off x="960120" y="254203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Middle S6-S10: 14 directors, 106 episodes</a:t>
            </a:r>
          </a:p>
        </p:txBody>
      </p:sp>
      <p:sp>
        <p:nvSpPr>
          <p:cNvPr id="72" name="Text"/>
          <p:cNvSpPr txBox="1"/>
          <p:nvPr/>
        </p:nvSpPr>
        <p:spPr>
          <a:xfrm>
            <a:off x="960120" y="3072384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Recent S11-S16: 8 directors, 114 episodes</a:t>
            </a:r>
          </a:p>
        </p:txBody>
      </p:sp>
      <p:sp>
        <p:nvSpPr>
          <p:cNvPr id="73" name="Text"/>
          <p:cNvSpPr txBox="1"/>
          <p:nvPr/>
        </p:nvSpPr>
        <p:spPr>
          <a:xfrm>
            <a:off x="960120" y="36027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Recent seasons are not smaller in episode footprint, but they use fewer directors.</a:t>
            </a:r>
          </a:p>
        </p:txBody>
      </p:sp>
      <p:sp>
        <p:nvSpPr>
          <p:cNvPr id="74" name="Shape"/>
          <p:cNvSpPr/>
          <p:nvPr/>
        </p:nvSpPr>
        <p:spPr>
          <a:xfrm>
            <a:off x="6309360" y="1234440"/>
            <a:ext cx="516636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75" name="Text"/>
          <p:cNvSpPr txBox="1"/>
          <p:nvPr/>
        </p:nvSpPr>
        <p:spPr>
          <a:xfrm>
            <a:off x="658368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3A7CA5"/>
                </a:solidFill>
              </a:rPr>
              <a:t>Management Read</a:t>
            </a:r>
          </a:p>
        </p:txBody>
      </p:sp>
      <p:sp>
        <p:nvSpPr>
          <p:cNvPr id="63" name="Text"/>
          <p:cNvSpPr txBox="1"/>
          <p:nvPr/>
        </p:nvSpPr>
        <p:spPr>
          <a:xfrm>
            <a:off x="6583680" y="1874520"/>
            <a:ext cx="4434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200" b="1">
                <a:solidFill>
                  <a:srgbClr val="1D2433"/>
                </a:solidFill>
              </a:rPr>
              <a:t>Consistency may be improving, but dependency risk is rising.</a:t>
            </a:r>
          </a:p>
        </p:txBody>
      </p:sp>
      <p:sp>
        <p:nvSpPr>
          <p:cNvPr id="64" name="Text"/>
          <p:cNvSpPr txBox="1"/>
          <p:nvPr/>
        </p:nvSpPr>
        <p:spPr>
          <a:xfrm>
            <a:off x="6583680" y="3154680"/>
            <a:ext cx="4434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4E5A6A"/>
                </a:solidFill>
              </a:rPr>
              <a:t>This is where managers should ask about backup capacity, readiness of newer directors, and whether the core bench is being over-relied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79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</a:ln>
        </p:spPr>
      </p:sp>
      <p:sp>
        <p:nvSpPr>
          <p:cNvPr id="80" name="Text"/>
          <p:cNvSpPr txBox="1"/>
          <p:nvPr/>
        </p:nvSpPr>
        <p:spPr>
          <a:xfrm>
            <a:off x="502920" y="41148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000" b="1">
                <a:solidFill>
                  <a:srgbClr val="1D2433"/>
                </a:solidFill>
              </a:rPr>
              <a:t>Current Capacity View</a:t>
            </a:r>
          </a:p>
        </p:txBody>
      </p:sp>
      <p:sp>
        <p:nvSpPr>
          <p:cNvPr id="81" name="Shape"/>
          <p:cNvSpPr/>
          <p:nvPr/>
        </p:nvSpPr>
        <p:spPr>
          <a:xfrm>
            <a:off x="685800" y="1234440"/>
            <a:ext cx="5166360" cy="498348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EE8"/>
            </a:solidFill>
          </a:ln>
        </p:spPr>
      </p:sp>
      <p:sp>
        <p:nvSpPr>
          <p:cNvPr id="82" name="Text"/>
          <p:cNvSpPr txBox="1"/>
          <p:nvPr/>
        </p:nvSpPr>
        <p:spPr>
          <a:xfrm>
            <a:off x="96012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D1495B"/>
                </a:solidFill>
              </a:rPr>
              <a:t>Season 16 Director Mix</a:t>
            </a:r>
          </a:p>
        </p:txBody>
      </p:sp>
      <p:sp>
        <p:nvSpPr>
          <p:cNvPr id="83" name="Text"/>
          <p:cNvSpPr txBox="1"/>
          <p:nvPr/>
        </p:nvSpPr>
        <p:spPr>
          <a:xfrm>
            <a:off x="960120" y="20116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Brian LoSchiavo: 4 episodes</a:t>
            </a:r>
          </a:p>
        </p:txBody>
      </p:sp>
      <p:sp>
        <p:nvSpPr>
          <p:cNvPr id="84" name="Text"/>
          <p:cNvSpPr txBox="1"/>
          <p:nvPr/>
        </p:nvSpPr>
        <p:spPr>
          <a:xfrm>
            <a:off x="960120" y="254203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Chris Song: 3 episodes</a:t>
            </a:r>
          </a:p>
        </p:txBody>
      </p:sp>
      <p:sp>
        <p:nvSpPr>
          <p:cNvPr id="85" name="Text"/>
          <p:cNvSpPr txBox="1"/>
          <p:nvPr/>
        </p:nvSpPr>
        <p:spPr>
          <a:xfrm>
            <a:off x="960120" y="3072384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Ryan Mattos: 3 episodes</a:t>
            </a:r>
          </a:p>
        </p:txBody>
      </p:sp>
      <p:sp>
        <p:nvSpPr>
          <p:cNvPr id="86" name="Text"/>
          <p:cNvSpPr txBox="1"/>
          <p:nvPr/>
        </p:nvSpPr>
        <p:spPr>
          <a:xfrm>
            <a:off x="960120" y="36027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Only 10 Season 16 episodes are present in the database snapshot.</a:t>
            </a:r>
          </a:p>
        </p:txBody>
      </p:sp>
      <p:sp>
        <p:nvSpPr>
          <p:cNvPr id="87" name="Shape"/>
          <p:cNvSpPr/>
          <p:nvPr/>
        </p:nvSpPr>
        <p:spPr>
          <a:xfrm>
            <a:off x="6309360" y="1234440"/>
            <a:ext cx="516636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88" name="Text"/>
          <p:cNvSpPr txBox="1"/>
          <p:nvPr/>
        </p:nvSpPr>
        <p:spPr>
          <a:xfrm>
            <a:off x="658368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3A7CA5"/>
                </a:solidFill>
              </a:rPr>
              <a:t>Manager Insight</a:t>
            </a:r>
          </a:p>
        </p:txBody>
      </p:sp>
      <p:sp>
        <p:nvSpPr>
          <p:cNvPr id="76" name="Text"/>
          <p:cNvSpPr txBox="1"/>
          <p:nvPr/>
        </p:nvSpPr>
        <p:spPr>
          <a:xfrm>
            <a:off x="6583680" y="1874520"/>
            <a:ext cx="44348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100" b="1">
                <a:solidFill>
                  <a:srgbClr val="1D2433"/>
                </a:solidFill>
              </a:rPr>
              <a:t>Three-person concentration makes staffing coverage easy to understand but fragile.</a:t>
            </a:r>
          </a:p>
        </p:txBody>
      </p:sp>
      <p:sp>
        <p:nvSpPr>
          <p:cNvPr id="77" name="Text"/>
          <p:cNvSpPr txBox="1"/>
          <p:nvPr/>
        </p:nvSpPr>
        <p:spPr>
          <a:xfrm>
            <a:off x="6583680" y="2971800"/>
            <a:ext cx="4434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4E5A6A"/>
                </a:solidFill>
              </a:rPr>
              <a:t>If one director is unavailable, the load shifts immediately to a very small peer group.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9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</a:ln>
        </p:spPr>
      </p:sp>
      <p:sp>
        <p:nvSpPr>
          <p:cNvPr id="93" name="Text"/>
          <p:cNvSpPr txBox="1"/>
          <p:nvPr/>
        </p:nvSpPr>
        <p:spPr>
          <a:xfrm>
            <a:off x="502920" y="41148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000" b="1">
                <a:solidFill>
                  <a:srgbClr val="1D2433"/>
                </a:solidFill>
              </a:rPr>
              <a:t>Continuity Anchors</a:t>
            </a:r>
          </a:p>
        </p:txBody>
      </p:sp>
      <p:sp>
        <p:nvSpPr>
          <p:cNvPr id="94" name="Shape"/>
          <p:cNvSpPr/>
          <p:nvPr/>
        </p:nvSpPr>
        <p:spPr>
          <a:xfrm>
            <a:off x="685800" y="1234440"/>
            <a:ext cx="5166360" cy="498348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EE8"/>
            </a:solidFill>
          </a:ln>
        </p:spPr>
      </p:sp>
      <p:sp>
        <p:nvSpPr>
          <p:cNvPr id="95" name="Text"/>
          <p:cNvSpPr txBox="1"/>
          <p:nvPr/>
        </p:nvSpPr>
        <p:spPr>
          <a:xfrm>
            <a:off x="96012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D1495B"/>
                </a:solidFill>
              </a:rPr>
              <a:t>Longest Running High-Volume Directors</a:t>
            </a:r>
          </a:p>
        </p:txBody>
      </p:sp>
      <p:sp>
        <p:nvSpPr>
          <p:cNvPr id="96" name="Text"/>
          <p:cNvSpPr txBox="1"/>
          <p:nvPr/>
        </p:nvSpPr>
        <p:spPr>
          <a:xfrm>
            <a:off x="960120" y="20116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Chris Song: S4-S16, 59 credits</a:t>
            </a:r>
          </a:p>
        </p:txBody>
      </p:sp>
      <p:sp>
        <p:nvSpPr>
          <p:cNvPr id="97" name="Text"/>
          <p:cNvSpPr txBox="1"/>
          <p:nvPr/>
        </p:nvSpPr>
        <p:spPr>
          <a:xfrm>
            <a:off x="960120" y="254203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Ryan Mattos: S9-S16, 37 credits</a:t>
            </a:r>
          </a:p>
        </p:txBody>
      </p:sp>
      <p:sp>
        <p:nvSpPr>
          <p:cNvPr id="98" name="Text"/>
          <p:cNvSpPr txBox="1"/>
          <p:nvPr/>
        </p:nvSpPr>
        <p:spPr>
          <a:xfrm>
            <a:off x="960120" y="3072384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Brian LoSchiavo: S4-S16, 33 credits</a:t>
            </a:r>
          </a:p>
        </p:txBody>
      </p:sp>
      <p:sp>
        <p:nvSpPr>
          <p:cNvPr id="99" name="Text"/>
          <p:cNvSpPr txBox="1"/>
          <p:nvPr/>
        </p:nvSpPr>
        <p:spPr>
          <a:xfrm>
            <a:off x="960120" y="36027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Tyree Dillihay: S3-S9, 32 credits</a:t>
            </a:r>
          </a:p>
        </p:txBody>
      </p:sp>
      <p:sp>
        <p:nvSpPr>
          <p:cNvPr id="100" name="Text"/>
          <p:cNvSpPr txBox="1"/>
          <p:nvPr/>
        </p:nvSpPr>
        <p:spPr>
          <a:xfrm>
            <a:off x="960120" y="413308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Matthew Long: S10-S14, 19 credits</a:t>
            </a:r>
          </a:p>
        </p:txBody>
      </p:sp>
      <p:sp>
        <p:nvSpPr>
          <p:cNvPr id="101" name="Text"/>
          <p:cNvSpPr txBox="1"/>
          <p:nvPr/>
        </p:nvSpPr>
        <p:spPr>
          <a:xfrm>
            <a:off x="960120" y="46634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Jennifer Coyle: S1-S6, 19 credits</a:t>
            </a:r>
          </a:p>
        </p:txBody>
      </p:sp>
      <p:sp>
        <p:nvSpPr>
          <p:cNvPr id="102" name="Shape"/>
          <p:cNvSpPr/>
          <p:nvPr/>
        </p:nvSpPr>
        <p:spPr>
          <a:xfrm>
            <a:off x="6309360" y="1234440"/>
            <a:ext cx="516636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103" name="Text"/>
          <p:cNvSpPr txBox="1"/>
          <p:nvPr/>
        </p:nvSpPr>
        <p:spPr>
          <a:xfrm>
            <a:off x="658368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3A7CA5"/>
                </a:solidFill>
              </a:rPr>
              <a:t>Interpretation</a:t>
            </a:r>
          </a:p>
        </p:txBody>
      </p:sp>
      <p:sp>
        <p:nvSpPr>
          <p:cNvPr id="89" name="Text"/>
          <p:cNvSpPr txBox="1"/>
          <p:nvPr/>
        </p:nvSpPr>
        <p:spPr>
          <a:xfrm>
            <a:off x="6583680" y="1874520"/>
            <a:ext cx="44348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200" b="1">
                <a:solidFill>
                  <a:srgbClr val="1D2433"/>
                </a:solidFill>
              </a:rPr>
              <a:t>These are not just high-volume contributors. They are institutional memory.</a:t>
            </a:r>
          </a:p>
        </p:txBody>
      </p:sp>
      <p:sp>
        <p:nvSpPr>
          <p:cNvPr id="90" name="Text"/>
          <p:cNvSpPr txBox="1"/>
          <p:nvPr/>
        </p:nvSpPr>
        <p:spPr>
          <a:xfrm>
            <a:off x="6583680" y="3246120"/>
            <a:ext cx="443484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4E5A6A"/>
                </a:solidFill>
              </a:rPr>
              <a:t>Use them deliberately for mentoring, standards, and complex episodes, while avoiding silent overload.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107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</a:ln>
        </p:spPr>
      </p:sp>
      <p:sp>
        <p:nvSpPr>
          <p:cNvPr id="108" name="Text"/>
          <p:cNvSpPr txBox="1"/>
          <p:nvPr/>
        </p:nvSpPr>
        <p:spPr>
          <a:xfrm>
            <a:off x="502920" y="41148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000" b="1">
                <a:solidFill>
                  <a:srgbClr val="1D2433"/>
                </a:solidFill>
              </a:rPr>
              <a:t>Collaboration Complexity</a:t>
            </a:r>
          </a:p>
        </p:txBody>
      </p:sp>
      <p:sp>
        <p:nvSpPr>
          <p:cNvPr id="109" name="Shape"/>
          <p:cNvSpPr/>
          <p:nvPr/>
        </p:nvSpPr>
        <p:spPr>
          <a:xfrm>
            <a:off x="685800" y="1234440"/>
            <a:ext cx="5166360" cy="498348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EE8"/>
            </a:solidFill>
          </a:ln>
        </p:spPr>
      </p:sp>
      <p:sp>
        <p:nvSpPr>
          <p:cNvPr id="110" name="Text"/>
          <p:cNvSpPr txBox="1"/>
          <p:nvPr/>
        </p:nvSpPr>
        <p:spPr>
          <a:xfrm>
            <a:off x="96012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D1495B"/>
                </a:solidFill>
              </a:rPr>
              <a:t>Co-Directed Episodes</a:t>
            </a:r>
          </a:p>
        </p:txBody>
      </p:sp>
      <p:sp>
        <p:nvSpPr>
          <p:cNvPr id="111" name="Text"/>
          <p:cNvSpPr txBox="1"/>
          <p:nvPr/>
        </p:nvSpPr>
        <p:spPr>
          <a:xfrm>
            <a:off x="960120" y="20116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18 episodes have multiple listed directors</a:t>
            </a:r>
          </a:p>
        </p:txBody>
      </p:sp>
      <p:sp>
        <p:nvSpPr>
          <p:cNvPr id="112" name="Text"/>
          <p:cNvSpPr txBox="1"/>
          <p:nvPr/>
        </p:nvSpPr>
        <p:spPr>
          <a:xfrm>
            <a:off x="960120" y="254203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Most co-direction appears in earlier seasons</a:t>
            </a:r>
          </a:p>
        </p:txBody>
      </p:sp>
      <p:sp>
        <p:nvSpPr>
          <p:cNvPr id="113" name="Text"/>
          <p:cNvSpPr txBox="1"/>
          <p:nvPr/>
        </p:nvSpPr>
        <p:spPr>
          <a:xfrm>
            <a:off x="960120" y="3072384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1D2433"/>
                </a:solidFill>
              </a:rPr>
              <a:t>Recent examples include Sauce Side Story and Amelia</a:t>
            </a:r>
          </a:p>
        </p:txBody>
      </p:sp>
      <p:sp>
        <p:nvSpPr>
          <p:cNvPr id="114" name="Shape"/>
          <p:cNvSpPr/>
          <p:nvPr/>
        </p:nvSpPr>
        <p:spPr>
          <a:xfrm>
            <a:off x="6309360" y="1234440"/>
            <a:ext cx="516636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</p:sp>
      <p:sp>
        <p:nvSpPr>
          <p:cNvPr id="115" name="Text"/>
          <p:cNvSpPr txBox="1"/>
          <p:nvPr/>
        </p:nvSpPr>
        <p:spPr>
          <a:xfrm>
            <a:off x="6583680" y="1508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 b="1">
                <a:solidFill>
                  <a:srgbClr val="3A7CA5"/>
                </a:solidFill>
              </a:rPr>
              <a:t>What To Ask</a:t>
            </a:r>
          </a:p>
        </p:txBody>
      </p:sp>
      <p:sp>
        <p:nvSpPr>
          <p:cNvPr id="104" name="Text"/>
          <p:cNvSpPr txBox="1"/>
          <p:nvPr/>
        </p:nvSpPr>
        <p:spPr>
          <a:xfrm>
            <a:off x="6583680" y="1874520"/>
            <a:ext cx="44348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200" b="1">
                <a:solidFill>
                  <a:srgbClr val="1D2433"/>
                </a:solidFill>
              </a:rPr>
              <a:t>Are co-directed episodes planned complexity or reactive capacity relief?</a:t>
            </a:r>
          </a:p>
        </p:txBody>
      </p:sp>
      <p:sp>
        <p:nvSpPr>
          <p:cNvPr id="105" name="Text"/>
          <p:cNvSpPr txBox="1"/>
          <p:nvPr/>
        </p:nvSpPr>
        <p:spPr>
          <a:xfrm>
            <a:off x="6583680" y="3154680"/>
            <a:ext cx="4434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4E5A6A"/>
                </a:solidFill>
              </a:rPr>
              <a:t>This is a useful manager lens: shared direction can reveal ambitious episodes, transition moments, or workload pressure.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117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</a:ln>
        </p:spPr>
      </p:sp>
      <p:sp>
        <p:nvSpPr>
          <p:cNvPr id="118" name="Text"/>
          <p:cNvSpPr txBox="1"/>
          <p:nvPr/>
        </p:nvSpPr>
        <p:spPr>
          <a:xfrm>
            <a:off x="502920" y="41148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000" b="1">
                <a:solidFill>
                  <a:srgbClr val="1D2433"/>
                </a:solidFill>
              </a:rPr>
              <a:t>Recommended Manager Actions</a:t>
            </a:r>
          </a:p>
        </p:txBody>
      </p:sp>
      <p:sp>
        <p:nvSpPr>
          <p:cNvPr id="119" name="Shape"/>
          <p:cNvSpPr/>
          <p:nvPr/>
        </p:nvSpPr>
        <p:spPr>
          <a:xfrm>
            <a:off x="685800" y="139903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20" name="Text"/>
          <p:cNvSpPr txBox="1"/>
          <p:nvPr/>
        </p:nvSpPr>
        <p:spPr>
          <a:xfrm>
            <a:off x="960120" y="132588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Protect the core bench from invisible overload</a:t>
            </a:r>
          </a:p>
        </p:txBody>
      </p:sp>
      <p:sp>
        <p:nvSpPr>
          <p:cNvPr id="121" name="Shape"/>
          <p:cNvSpPr/>
          <p:nvPr/>
        </p:nvSpPr>
        <p:spPr>
          <a:xfrm>
            <a:off x="685800" y="203911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22" name="Text"/>
          <p:cNvSpPr txBox="1"/>
          <p:nvPr/>
        </p:nvSpPr>
        <p:spPr>
          <a:xfrm>
            <a:off x="960120" y="196596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Build succession around high-volume anchors</a:t>
            </a:r>
          </a:p>
        </p:txBody>
      </p:sp>
      <p:sp>
        <p:nvSpPr>
          <p:cNvPr id="123" name="Shape"/>
          <p:cNvSpPr/>
          <p:nvPr/>
        </p:nvSpPr>
        <p:spPr>
          <a:xfrm>
            <a:off x="685800" y="267919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24" name="Text"/>
          <p:cNvSpPr txBox="1"/>
          <p:nvPr/>
        </p:nvSpPr>
        <p:spPr>
          <a:xfrm>
            <a:off x="960120" y="260604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Review co-directed episodes as possible complexity markers</a:t>
            </a:r>
          </a:p>
        </p:txBody>
      </p:sp>
      <p:sp>
        <p:nvSpPr>
          <p:cNvPr id="125" name="Shape"/>
          <p:cNvSpPr/>
          <p:nvPr/>
        </p:nvSpPr>
        <p:spPr>
          <a:xfrm>
            <a:off x="685800" y="331927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26" name="Text"/>
          <p:cNvSpPr txBox="1"/>
          <p:nvPr/>
        </p:nvSpPr>
        <p:spPr>
          <a:xfrm>
            <a:off x="960120" y="324612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Track unique directors per season as a capacity-health metric</a:t>
            </a:r>
          </a:p>
        </p:txBody>
      </p:sp>
      <p:sp>
        <p:nvSpPr>
          <p:cNvPr id="127" name="Shape"/>
          <p:cNvSpPr/>
          <p:nvPr/>
        </p:nvSpPr>
        <p:spPr>
          <a:xfrm>
            <a:off x="685800" y="395935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28" name="Text"/>
          <p:cNvSpPr txBox="1"/>
          <p:nvPr/>
        </p:nvSpPr>
        <p:spPr>
          <a:xfrm>
            <a:off x="960120" y="388620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Pair newer directors with continuity anchors before the bench tightens further</a:t>
            </a:r>
          </a:p>
        </p:txBody>
      </p:sp>
      <p:sp>
        <p:nvSpPr>
          <p:cNvPr id="129" name="Shape"/>
          <p:cNvSpPr/>
          <p:nvPr/>
        </p:nvSpPr>
        <p:spPr>
          <a:xfrm>
            <a:off x="685800" y="5596128"/>
            <a:ext cx="1083564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9DEE8"/>
            </a:solidFill>
          </a:ln>
        </p:spPr>
      </p:sp>
      <p:sp>
        <p:nvSpPr>
          <p:cNvPr id="130" name="Text"/>
          <p:cNvSpPr txBox="1"/>
          <p:nvPr/>
        </p:nvSpPr>
        <p:spPr>
          <a:xfrm>
            <a:off x="914400" y="5742432"/>
            <a:ext cx="10287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400" b="1">
                <a:solidFill>
                  <a:srgbClr val="3A4A5E"/>
                </a:solidFill>
              </a:rPr>
              <a:t>Proposed operating metric: director bench depth = unique directors per active season plus share carried by top three.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132" name="Shape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</a:ln>
        </p:spPr>
      </p:sp>
      <p:sp>
        <p:nvSpPr>
          <p:cNvPr id="133" name="Text"/>
          <p:cNvSpPr txBox="1"/>
          <p:nvPr/>
        </p:nvSpPr>
        <p:spPr>
          <a:xfrm>
            <a:off x="502920" y="41148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000" b="1">
                <a:solidFill>
                  <a:srgbClr val="1D2433"/>
                </a:solidFill>
              </a:rPr>
              <a:t>Closing Narrative</a:t>
            </a:r>
          </a:p>
        </p:txBody>
      </p:sp>
      <p:sp>
        <p:nvSpPr>
          <p:cNvPr id="134" name="Shape"/>
          <p:cNvSpPr/>
          <p:nvPr/>
        </p:nvSpPr>
        <p:spPr>
          <a:xfrm>
            <a:off x="685800" y="139903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35" name="Text"/>
          <p:cNvSpPr txBox="1"/>
          <p:nvPr/>
        </p:nvSpPr>
        <p:spPr>
          <a:xfrm>
            <a:off x="960120" y="132588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The episode workload is steady enough to look normal from far away.</a:t>
            </a:r>
          </a:p>
        </p:txBody>
      </p:sp>
      <p:sp>
        <p:nvSpPr>
          <p:cNvPr id="136" name="Shape"/>
          <p:cNvSpPr/>
          <p:nvPr/>
        </p:nvSpPr>
        <p:spPr>
          <a:xfrm>
            <a:off x="685800" y="203911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37" name="Text"/>
          <p:cNvSpPr txBox="1"/>
          <p:nvPr/>
        </p:nvSpPr>
        <p:spPr>
          <a:xfrm>
            <a:off x="960120" y="196596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The director workload tells a sharper story: experience is concentrated.</a:t>
            </a:r>
          </a:p>
        </p:txBody>
      </p:sp>
      <p:sp>
        <p:nvSpPr>
          <p:cNvPr id="138" name="Shape"/>
          <p:cNvSpPr/>
          <p:nvPr/>
        </p:nvSpPr>
        <p:spPr>
          <a:xfrm>
            <a:off x="685800" y="267919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39" name="Text"/>
          <p:cNvSpPr txBox="1"/>
          <p:nvPr/>
        </p:nvSpPr>
        <p:spPr>
          <a:xfrm>
            <a:off x="960120" y="260604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That concentration creates consistency, but it also creates dependency.</a:t>
            </a:r>
          </a:p>
        </p:txBody>
      </p:sp>
      <p:sp>
        <p:nvSpPr>
          <p:cNvPr id="140" name="Shape"/>
          <p:cNvSpPr/>
          <p:nvPr/>
        </p:nvSpPr>
        <p:spPr>
          <a:xfrm>
            <a:off x="685800" y="3319272"/>
            <a:ext cx="146304" cy="146304"/>
          </a:xfrm>
          <a:prstGeom prst="roundRect">
            <a:avLst/>
          </a:prstGeom>
          <a:solidFill>
            <a:srgbClr val="D1495B"/>
          </a:solidFill>
          <a:ln w="12700">
            <a:solidFill>
              <a:srgbClr val="D1495B"/>
            </a:solidFill>
          </a:ln>
        </p:spPr>
      </p:sp>
      <p:sp>
        <p:nvSpPr>
          <p:cNvPr id="141" name="Text"/>
          <p:cNvSpPr txBox="1"/>
          <p:nvPr/>
        </p:nvSpPr>
        <p:spPr>
          <a:xfrm>
            <a:off x="960120" y="3246120"/>
            <a:ext cx="10149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>
                <a:solidFill>
                  <a:srgbClr val="1D2433"/>
                </a:solidFill>
              </a:rPr>
              <a:t>Management’s opportunity is to preserve continuity while widening the ready bench.</a:t>
            </a:r>
          </a:p>
        </p:txBody>
      </p:sp>
      <p:sp>
        <p:nvSpPr>
          <p:cNvPr id="142" name="Shape"/>
          <p:cNvSpPr/>
          <p:nvPr/>
        </p:nvSpPr>
        <p:spPr>
          <a:xfrm>
            <a:off x="685800" y="5596128"/>
            <a:ext cx="1083564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9DEE8"/>
            </a:solidFill>
          </a:ln>
        </p:spPr>
      </p:sp>
      <p:sp>
        <p:nvSpPr>
          <p:cNvPr id="143" name="Text"/>
          <p:cNvSpPr txBox="1"/>
          <p:nvPr/>
        </p:nvSpPr>
        <p:spPr>
          <a:xfrm>
            <a:off x="914400" y="5742432"/>
            <a:ext cx="10287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400" b="1">
                <a:solidFill>
                  <a:srgbClr val="3A4A5E"/>
                </a:solidFill>
              </a:rPr>
              <a:t>Headline: stable production surface, concentrated leadership 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">
      <a:dk1>
        <a:srgbClr val="1D2433"/>
      </a:dk1>
      <a:lt1>
        <a:srgbClr val="FFFFFF"/>
      </a:lt1>
      <a:dk2>
        <a:srgbClr val="3A4A5E"/>
      </a:dk2>
      <a:lt2>
        <a:srgbClr val="F7F8FA"/>
      </a:lt2>
      <a:accent1>
        <a:srgbClr val="3A7CA5"/>
      </a:accent1>
      <a:accent2>
        <a:srgbClr val="D1495B"/>
      </a:accent2>
      <a:accent3>
        <a:srgbClr val="EDAE49"/>
      </a:accent3>
      <a:accent4>
        <a:srgbClr val="2A9D8F"/>
      </a:accent4>
      <a:accent5>
        <a:srgbClr val="6B7280"/>
      </a:accent5>
      <a:accent6>
        <a:srgbClr val="8D99AE"/>
      </a:accent6>
      <a:hlink>
        <a:srgbClr val="3A7CA5"/>
      </a:hlink>
      <a:folHlink>
        <a:srgbClr val="D1495B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odex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Director Workload Story</dc:title>
  <dc:creator>Codex</dc:creator>
  <cp:lastModifiedBy>Codex</cp:lastModifiedBy>
  <dcterms:created xsi:type="dcterms:W3CDTF">2026-07-01T12:00:00Z</dcterms:created>
  <dcterms:modified xsi:type="dcterms:W3CDTF">2026-07-01T12:00:00Z</dcterms:modified>
</cp:coreProperties>
</file>